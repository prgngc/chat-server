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5" r:id="rId6"/>
    <p:sldId id="264" r:id="rId7"/>
    <p:sldId id="263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43" d="100"/>
          <a:sy n="143" d="100"/>
        </p:scale>
        <p:origin x="92" y="2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b5bcb53e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ab5bcb53e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ab5bcb53e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ab5bcb53e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ab5bcb53e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ab5bcb53e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ac3ec62b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ac3ec62b6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ac3ec62b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ac3ec62b6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7042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ac3ec62b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ac3ec62b6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931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ab5bcb53e3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ab5bcb53e3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1648121"/>
            <a:ext cx="8520600" cy="11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dirty="0">
                <a:solidFill>
                  <a:schemeClr val="dk1"/>
                </a:solidFill>
              </a:rPr>
              <a:t>Название команды</a:t>
            </a:r>
            <a:r>
              <a:rPr lang="en-US" sz="2000" dirty="0">
                <a:solidFill>
                  <a:schemeClr val="dk1"/>
                </a:solidFill>
              </a:rPr>
              <a:t>: </a:t>
            </a:r>
            <a:r>
              <a:rPr lang="ru-RU" sz="2000" dirty="0">
                <a:solidFill>
                  <a:schemeClr val="dk1"/>
                </a:solidFill>
              </a:rPr>
              <a:t>Корпоративный чат</a:t>
            </a:r>
            <a:endParaRPr sz="2000" dirty="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dirty="0">
                <a:solidFill>
                  <a:schemeClr val="dk1"/>
                </a:solidFill>
              </a:rPr>
              <a:t>Название проекта</a:t>
            </a:r>
            <a:r>
              <a:rPr lang="en-US" sz="2000" dirty="0">
                <a:solidFill>
                  <a:schemeClr val="dk1"/>
                </a:solidFill>
              </a:rPr>
              <a:t>: </a:t>
            </a:r>
            <a:r>
              <a:rPr lang="ru-RU" sz="2000" dirty="0">
                <a:solidFill>
                  <a:schemeClr val="dk1"/>
                </a:solidFill>
              </a:rPr>
              <a:t>Корпоративный чат</a:t>
            </a:r>
            <a:endParaRPr sz="2000" dirty="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О проекте</a:t>
            </a:r>
            <a:endParaRPr dirty="0"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BDE2301-10C2-5040-BF19-2BB2CF3967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720208"/>
              </p:ext>
            </p:extLst>
          </p:nvPr>
        </p:nvGraphicFramePr>
        <p:xfrm>
          <a:off x="452673" y="1827745"/>
          <a:ext cx="8379627" cy="2569409"/>
        </p:xfrm>
        <a:graphic>
          <a:graphicData uri="http://schemas.openxmlformats.org/drawingml/2006/table">
            <a:tbl>
              <a:tblPr/>
              <a:tblGrid>
                <a:gridCol w="3639409">
                  <a:extLst>
                    <a:ext uri="{9D8B030D-6E8A-4147-A177-3AD203B41FA5}">
                      <a16:colId xmlns:a16="http://schemas.microsoft.com/office/drawing/2014/main" val="3682195391"/>
                    </a:ext>
                  </a:extLst>
                </a:gridCol>
                <a:gridCol w="4740218">
                  <a:extLst>
                    <a:ext uri="{9D8B030D-6E8A-4147-A177-3AD203B41FA5}">
                      <a16:colId xmlns:a16="http://schemas.microsoft.com/office/drawing/2014/main" val="1427827685"/>
                    </a:ext>
                  </a:extLst>
                </a:gridCol>
              </a:tblGrid>
              <a:tr h="534869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b="1" i="0" u="none" strike="noStrike">
                          <a:solidFill>
                            <a:srgbClr val="000000"/>
                          </a:solidFill>
                          <a:effectLst/>
                          <a:latin typeface="PT Sans" panose="020B0503020203020204" pitchFamily="34" charset="0"/>
                        </a:rPr>
                        <a:t>Кто?</a:t>
                      </a:r>
                      <a:endParaRPr lang="ru-RU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b="1" i="0" u="none" strike="noStrike">
                          <a:solidFill>
                            <a:srgbClr val="000000"/>
                          </a:solidFill>
                          <a:effectLst/>
                          <a:latin typeface="PT Sans" panose="020B0503020203020204" pitchFamily="34" charset="0"/>
                        </a:rPr>
                        <a:t>Чего хочет?</a:t>
                      </a:r>
                      <a:endParaRPr lang="ru-RU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1299378"/>
                  </a:ext>
                </a:extLst>
              </a:tr>
              <a:tr h="410480">
                <a:tc>
                  <a:txBody>
                    <a:bodyPr/>
                    <a:lstStyle/>
                    <a:p>
                      <a:pPr fontAlgn="t"/>
                      <a:r>
                        <a:rPr lang="ru-RU" dirty="0">
                          <a:effectLst/>
                        </a:rPr>
                        <a:t> Исполнитель (студент)</a:t>
                      </a:r>
                    </a:p>
                  </a:txBody>
                  <a:tcPr marL="38100" marR="38100" marT="19050" marB="19050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Разрабатываемая система должна удовлетворять всем поставленным требованиям</a:t>
                      </a:r>
                      <a:endParaRPr lang="ru-RU" dirty="0">
                        <a:effectLst/>
                      </a:endParaRPr>
                    </a:p>
                  </a:txBody>
                  <a:tcPr marL="38100" marR="38100" marT="19050" marB="19050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5289005"/>
                  </a:ext>
                </a:extLst>
              </a:tr>
              <a:tr h="410480">
                <a:tc>
                  <a:txBody>
                    <a:bodyPr/>
                    <a:lstStyle/>
                    <a:p>
                      <a:pPr fontAlgn="t"/>
                      <a:r>
                        <a:rPr lang="ru-RU" dirty="0">
                          <a:effectLst/>
                        </a:rPr>
                        <a:t> Преподаватель</a:t>
                      </a:r>
                    </a:p>
                  </a:txBody>
                  <a:tcPr marL="38100" marR="38100" marT="19050" marB="19050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Разрабатываемая система должна удовлетворять всем поставленным требованиям и должна быть готова в срок</a:t>
                      </a:r>
                      <a:endParaRPr lang="ru-RU" dirty="0">
                        <a:effectLst/>
                      </a:endParaRPr>
                    </a:p>
                  </a:txBody>
                  <a:tcPr marL="38100" marR="38100" marT="19050" marB="19050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257761"/>
                  </a:ext>
                </a:extLst>
              </a:tr>
              <a:tr h="410480">
                <a:tc>
                  <a:txBody>
                    <a:bodyPr/>
                    <a:lstStyle/>
                    <a:p>
                      <a:pPr fontAlgn="t"/>
                      <a:r>
                        <a:rPr lang="ru-RU" dirty="0">
                          <a:effectLst/>
                        </a:rPr>
                        <a:t> Потенциальные пользователи</a:t>
                      </a:r>
                    </a:p>
                  </a:txBody>
                  <a:tcPr marL="38100" marR="38100" marT="19050" marB="19050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Системой удобно и интуитивно понятно пользоваться, также отсутствуют неисправности, которые в значительной степени усложняют процесс работы в системе и ухудшают 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UX </a:t>
                      </a: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user experience</a:t>
                      </a: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)</a:t>
                      </a:r>
                      <a:endParaRPr lang="ru-RU" dirty="0">
                        <a:effectLst/>
                      </a:endParaRPr>
                    </a:p>
                  </a:txBody>
                  <a:tcPr marL="38100" marR="38100" marT="19050" marB="19050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48845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10017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О проекте</a:t>
            </a:r>
            <a:endParaRPr dirty="0"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311700" y="751022"/>
            <a:ext cx="8520600" cy="42923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 dirty="0">
                <a:solidFill>
                  <a:schemeClr val="dk1"/>
                </a:solidFill>
              </a:rPr>
              <a:t>Проблема. </a:t>
            </a:r>
            <a:r>
              <a:rPr lang="ru-RU" sz="2000" dirty="0">
                <a:solidFill>
                  <a:schemeClr val="dk1"/>
                </a:solidFill>
              </a:rPr>
              <a:t>Проблема коммуникации между сотрудниками компании, которая вызвана </a:t>
            </a:r>
            <a:r>
              <a:rPr lang="en-US" sz="2000" dirty="0">
                <a:solidFill>
                  <a:schemeClr val="dk1"/>
                </a:solidFill>
              </a:rPr>
              <a:t>“</a:t>
            </a:r>
            <a:r>
              <a:rPr lang="ru-RU" sz="2000" dirty="0">
                <a:solidFill>
                  <a:schemeClr val="dk1"/>
                </a:solidFill>
              </a:rPr>
              <a:t>мёртвыми аккаунтами</a:t>
            </a:r>
            <a:r>
              <a:rPr lang="en-US" sz="2000" dirty="0">
                <a:solidFill>
                  <a:schemeClr val="dk1"/>
                </a:solidFill>
              </a:rPr>
              <a:t>”</a:t>
            </a:r>
            <a:endParaRPr sz="2000" dirty="0">
              <a:solidFill>
                <a:schemeClr val="dk1"/>
              </a:solidFill>
            </a:endParaRPr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ru" sz="2000" b="1" dirty="0">
                <a:solidFill>
                  <a:schemeClr val="dk1"/>
                </a:solidFill>
              </a:rPr>
              <a:t>Решение. </a:t>
            </a:r>
            <a:r>
              <a:rPr lang="ru" sz="2000" dirty="0">
                <a:solidFill>
                  <a:schemeClr val="dk1"/>
                </a:solidFill>
              </a:rPr>
              <a:t>При регистрации каждого нового аккаунта одним и тем же сотрудником ему нужно будет вводить уникальный идентификационный номер, который ему будет выдаваться в компании. За счёт этого система будет понимать, что отдельные аккаунты принадлежат одному сотруднику и уведовлять его и новых сообщениях на </a:t>
            </a:r>
            <a:r>
              <a:rPr lang="en-US" sz="2000" dirty="0">
                <a:solidFill>
                  <a:schemeClr val="dk1"/>
                </a:solidFill>
              </a:rPr>
              <a:t>“</a:t>
            </a:r>
            <a:r>
              <a:rPr lang="ru-RU" sz="2000" dirty="0">
                <a:solidFill>
                  <a:schemeClr val="dk1"/>
                </a:solidFill>
              </a:rPr>
              <a:t>мёртвом аккаунте</a:t>
            </a:r>
            <a:r>
              <a:rPr lang="en-US" sz="2000" dirty="0">
                <a:solidFill>
                  <a:schemeClr val="dk1"/>
                </a:solidFill>
              </a:rPr>
              <a:t>”</a:t>
            </a:r>
            <a:br>
              <a:rPr lang="ru" sz="2000" dirty="0">
                <a:solidFill>
                  <a:schemeClr val="dk1"/>
                </a:solidFill>
              </a:rPr>
            </a:br>
            <a:endParaRPr lang="ru" sz="2000" dirty="0">
              <a:solidFill>
                <a:schemeClr val="dk1"/>
              </a:solidFill>
            </a:endParaRPr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-US" sz="2000" b="1" dirty="0">
                <a:solidFill>
                  <a:schemeClr val="tx1"/>
                </a:solidFill>
              </a:rPr>
              <a:t>MVP</a:t>
            </a:r>
            <a:r>
              <a:rPr lang="ru-RU" sz="2000" b="1" dirty="0">
                <a:solidFill>
                  <a:schemeClr val="tx1"/>
                </a:solidFill>
              </a:rPr>
              <a:t>.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ru-RU" sz="2000" dirty="0">
                <a:solidFill>
                  <a:schemeClr val="tx1"/>
                </a:solidFill>
                <a:latin typeface="+mj-lt"/>
              </a:rPr>
              <a:t>К концу</a:t>
            </a:r>
            <a:r>
              <a:rPr lang="ru-RU" sz="20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семестра должна быть разработана вся необходимая функциональность, в том числе отправка сообщений в реальном времени, возможность вступать и создавать группу и др.)</a:t>
            </a:r>
            <a:endParaRPr lang="ru-RU" sz="20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sz="2000" dirty="0"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Аналоги</a:t>
            </a:r>
            <a:endParaRPr dirty="0"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86EDCE1D-E178-334C-9B7F-FCB39DCF2D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054733"/>
              </p:ext>
            </p:extLst>
          </p:nvPr>
        </p:nvGraphicFramePr>
        <p:xfrm>
          <a:off x="396019" y="1284427"/>
          <a:ext cx="8123513" cy="2381250"/>
        </p:xfrm>
        <a:graphic>
          <a:graphicData uri="http://schemas.openxmlformats.org/drawingml/2006/table">
            <a:tbl>
              <a:tblPr/>
              <a:tblGrid>
                <a:gridCol w="971550">
                  <a:extLst>
                    <a:ext uri="{9D8B030D-6E8A-4147-A177-3AD203B41FA5}">
                      <a16:colId xmlns:a16="http://schemas.microsoft.com/office/drawing/2014/main" val="2930295798"/>
                    </a:ext>
                  </a:extLst>
                </a:gridCol>
                <a:gridCol w="1794917">
                  <a:extLst>
                    <a:ext uri="{9D8B030D-6E8A-4147-A177-3AD203B41FA5}">
                      <a16:colId xmlns:a16="http://schemas.microsoft.com/office/drawing/2014/main" val="1004826306"/>
                    </a:ext>
                  </a:extLst>
                </a:gridCol>
                <a:gridCol w="2297151">
                  <a:extLst>
                    <a:ext uri="{9D8B030D-6E8A-4147-A177-3AD203B41FA5}">
                      <a16:colId xmlns:a16="http://schemas.microsoft.com/office/drawing/2014/main" val="1498788474"/>
                    </a:ext>
                  </a:extLst>
                </a:gridCol>
                <a:gridCol w="1761893">
                  <a:extLst>
                    <a:ext uri="{9D8B030D-6E8A-4147-A177-3AD203B41FA5}">
                      <a16:colId xmlns:a16="http://schemas.microsoft.com/office/drawing/2014/main" val="596830840"/>
                    </a:ext>
                  </a:extLst>
                </a:gridCol>
                <a:gridCol w="1298002">
                  <a:extLst>
                    <a:ext uri="{9D8B030D-6E8A-4147-A177-3AD203B41FA5}">
                      <a16:colId xmlns:a16="http://schemas.microsoft.com/office/drawing/2014/main" val="38432963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Название</a:t>
                      </a:r>
                      <a:endParaRPr lang="ru-RU"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Ссылка</a:t>
                      </a:r>
                      <a:endParaRPr lang="ru-RU" dirty="0"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Преимущества</a:t>
                      </a:r>
                      <a:endParaRPr lang="ru-RU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(с точки зрения пользователя)</a:t>
                      </a:r>
                      <a:endParaRPr lang="ru-RU" dirty="0"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Недостатки</a:t>
                      </a:r>
                      <a:endParaRPr lang="ru-RU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(с точки зрения пользователя)</a:t>
                      </a:r>
                      <a:endParaRPr lang="ru-RU"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Отличия</a:t>
                      </a:r>
                      <a:endParaRPr lang="ru-RU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(от вашего решения)</a:t>
                      </a:r>
                      <a:endParaRPr lang="ru-RU"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5330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Jira</a:t>
                      </a:r>
                      <a:endParaRPr lang="ru-RU" dirty="0"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https://www.atlassian.com/software/jira</a:t>
                      </a:r>
                      <a:endParaRPr lang="ru-RU" dirty="0"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Развитая экосистема (продукт давно на рынке). Большое комьюнити</a:t>
                      </a:r>
                      <a:endParaRPr lang="ru-RU" dirty="0"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Зависимость от иностранных поставщиков</a:t>
                      </a:r>
                      <a:endParaRPr lang="ru-RU" dirty="0"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dirty="0">
                          <a:effectLst/>
                        </a:rPr>
                        <a:t> </a:t>
                      </a: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Зарубежный</a:t>
                      </a:r>
                      <a:endParaRPr lang="ru-RU" dirty="0"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4008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Slack</a:t>
                      </a:r>
                      <a:endParaRPr lang="ru-RU" dirty="0"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dirty="0">
                          <a:effectLst/>
                        </a:rPr>
                        <a:t> </a:t>
                      </a:r>
                      <a:r>
                        <a:rPr lang="en-US" dirty="0">
                          <a:effectLst/>
                        </a:rPr>
                        <a:t>https://slack.com/</a:t>
                      </a:r>
                      <a:endParaRPr lang="ru-RU" dirty="0"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Решение, к которому привыкли</a:t>
                      </a:r>
                      <a:endParaRPr lang="ru-RU" dirty="0"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Наличие проблемы занимания места “мёртвыми” аккаунтами на сервере</a:t>
                      </a:r>
                      <a:endParaRPr lang="ru-RU" dirty="0"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dirty="0">
                          <a:effectLst/>
                        </a:rPr>
                        <a:t> </a:t>
                      </a: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Зарубежный</a:t>
                      </a:r>
                      <a:endParaRPr lang="ru-RU" dirty="0">
                        <a:effectLst/>
                      </a:endParaRPr>
                    </a:p>
                  </a:txBody>
                  <a:tcPr marL="66675" marR="66675" marT="66675" marB="6667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219625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Основные преимущества</a:t>
            </a:r>
            <a:endParaRPr dirty="0"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56803BC1-13E6-9F43-8D3A-1D2092571F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136" y="1132027"/>
            <a:ext cx="8433948" cy="3596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4300" indent="0" algn="just"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Преимущество 1: Наше предложение не является зарубежным. Это неоспоримое преимущество и доказательством этому являются прецеденты, когда зарубежные компании прекращали свою деятельность в РФ и следовательно их продукция становилась недоступна на территории РФ или доступна, но доступ к ней усложнялся. Как следствие компании, использовавшие их продукцию были вынуждены в короткие сроки быстро искать аналоги, терять прибыль и терять в удобстве работы.</a:t>
            </a:r>
            <a:endParaRPr lang="ru-RU" sz="18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Преимущество 2: Простой, ненагруженный интерфейс. Это важно, так как это влияет на процесс привыкания к системе. Если интерфейс прост и интуитивно понятен, то человеку проще привыкнуть к системе и это может влиять на выбор пользователя между системами.</a:t>
            </a:r>
            <a:endParaRPr lang="ru-RU" sz="18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501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267095" y="15537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Исследование</a:t>
            </a:r>
            <a:endParaRPr dirty="0"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56803BC1-13E6-9F43-8D3A-1D2092571F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4215" y="861424"/>
            <a:ext cx="8433948" cy="410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4300" indent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ru-RU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Гипотеза – Если создать приложение корпоративного чата, которое будет решать проблему “мёртвых аккаунтов”, то можно решить проблему коммуникации в компаниях.</a:t>
            </a:r>
          </a:p>
          <a:p>
            <a:pPr marL="114300" indent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ru-RU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Действие – Создать </a:t>
            </a:r>
            <a:r>
              <a:rPr lang="en-US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MVP</a:t>
            </a:r>
            <a:r>
              <a:rPr lang="ru-RU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системы со всеми минимально необходимыми функциями для приложения корпоративного чата, например, пересылка сообщений в реальном времени, возможность вступать и создавать группы, добавить личные сообщения, а также в этой системе не должно быть проблемы с “мёртвыми аккаунтами”.</a:t>
            </a:r>
          </a:p>
          <a:p>
            <a:pPr marL="114300" indent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ru-RU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Данные – Получить и проанализировать данные по заинтересованности потенциальных пользователей в новой альтернативе и проанализировать темпы продаж приложения.</a:t>
            </a:r>
          </a:p>
          <a:p>
            <a:pPr marL="114300" indent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ru-RU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Выводы – В результате анализа данных стало ясно, что потенциальные пользователи заинтересованы в новых альтернативах.</a:t>
            </a:r>
          </a:p>
        </p:txBody>
      </p:sp>
    </p:spTree>
    <p:extLst>
      <p:ext uri="{BB962C8B-B14F-4D97-AF65-F5344CB8AC3E}">
        <p14:creationId xmlns:p14="http://schemas.microsoft.com/office/powerpoint/2010/main" val="664197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Команда проекта</a:t>
            </a:r>
            <a:endParaRPr dirty="0"/>
          </a:p>
        </p:txBody>
      </p:sp>
      <p:sp>
        <p:nvSpPr>
          <p:cNvPr id="111" name="Google Shape;111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 err="1">
                <a:solidFill>
                  <a:schemeClr val="tx1"/>
                </a:solidFill>
              </a:rPr>
              <a:t>Бондик</a:t>
            </a:r>
            <a:r>
              <a:rPr lang="ru-RU" dirty="0">
                <a:solidFill>
                  <a:schemeClr val="tx1"/>
                </a:solidFill>
              </a:rPr>
              <a:t> А.В. - разработчик</a:t>
            </a:r>
            <a:r>
              <a:rPr lang="ru-RU" b="1" dirty="0"/>
              <a:t> </a:t>
            </a:r>
            <a:endParaRPr lang="ru-RU" sz="2000" dirty="0"/>
          </a:p>
          <a:p>
            <a:endParaRPr sz="2000" dirty="0">
              <a:solidFill>
                <a:schemeClr val="dk1"/>
              </a:solidFill>
            </a:endParaRPr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478</Words>
  <Application>Microsoft Office PowerPoint</Application>
  <PresentationFormat>Экран (16:9)</PresentationFormat>
  <Paragraphs>44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PT Sans</vt:lpstr>
      <vt:lpstr>Simple Light</vt:lpstr>
      <vt:lpstr>Презентация PowerPoint</vt:lpstr>
      <vt:lpstr>О проекте</vt:lpstr>
      <vt:lpstr>О проекте</vt:lpstr>
      <vt:lpstr>Аналоги</vt:lpstr>
      <vt:lpstr>Основные преимущества</vt:lpstr>
      <vt:lpstr>Исследование</vt:lpstr>
      <vt:lpstr>Команда проекта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Титульный слайд  </dc:title>
  <cp:lastModifiedBy>- -</cp:lastModifiedBy>
  <cp:revision>27</cp:revision>
  <dcterms:modified xsi:type="dcterms:W3CDTF">2025-05-25T19:05:07Z</dcterms:modified>
</cp:coreProperties>
</file>